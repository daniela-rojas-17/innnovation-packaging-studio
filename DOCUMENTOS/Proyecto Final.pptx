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0" r:id="rId14"/>
    <p:sldId id="272" r:id="rId15"/>
    <p:sldId id="273" r:id="rId16"/>
    <p:sldId id="274" r:id="rId17"/>
    <p:sldId id="269" r:id="rId18"/>
    <p:sldId id="271" r:id="rId19"/>
    <p:sldId id="275" r:id="rId20"/>
    <p:sldId id="276" r:id="rId21"/>
    <p:sldId id="278" r:id="rId22"/>
    <p:sldId id="279" r:id="rId23"/>
    <p:sldId id="280" r:id="rId24"/>
    <p:sldId id="281" r:id="rId25"/>
    <p:sldId id="267" r:id="rId2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2A7781-06CD-F9FE-1D76-A6FDDD34FC4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97356E4-DD3A-995D-87C8-FC323E0569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5AB637D-ABA3-9201-6CC0-EC05F505D6E6}"/>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5" name="Marcador de pie de página 4">
            <a:extLst>
              <a:ext uri="{FF2B5EF4-FFF2-40B4-BE49-F238E27FC236}">
                <a16:creationId xmlns:a16="http://schemas.microsoft.com/office/drawing/2014/main" id="{FF2C80ED-7437-7AB1-E93C-FDCBF872895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8DB57CE-01C4-5C54-A5AD-DC1D8CE65132}"/>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605319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C38841-F9A8-5A10-6634-07DA00F9C7F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5A63F92-5E9C-8AD8-D508-10F7BDD00E5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487CAC3-89E5-D197-1BAD-3C41611A2AD2}"/>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5" name="Marcador de pie de página 4">
            <a:extLst>
              <a:ext uri="{FF2B5EF4-FFF2-40B4-BE49-F238E27FC236}">
                <a16:creationId xmlns:a16="http://schemas.microsoft.com/office/drawing/2014/main" id="{A61FCC10-1801-33BF-4CC7-8B8A673F19C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08C442D-B9D4-A693-48CD-71AA791D15DF}"/>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422016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E5244F-D45C-2FDF-0D96-62610315006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055AC2F-1EC1-5B73-7CE4-79E1FF9019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C43FDC9-9AD2-AFBC-D26A-B4E15D4F8463}"/>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5" name="Marcador de pie de página 4">
            <a:extLst>
              <a:ext uri="{FF2B5EF4-FFF2-40B4-BE49-F238E27FC236}">
                <a16:creationId xmlns:a16="http://schemas.microsoft.com/office/drawing/2014/main" id="{0B99CD96-429B-BA2C-595C-ACE15AA3AD6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7BB1193-7E8C-9CE6-1FDC-98DAF4F13570}"/>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1981683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B452B-7B8C-555A-6181-7291B597AA2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2DF33A0-B92E-BF05-B902-9466EAEFB84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548EF779-EB1B-9B24-5B40-65AB83077E0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8F961314-4908-D44B-9701-26E76A0C4A0D}"/>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6" name="Marcador de pie de página 5">
            <a:extLst>
              <a:ext uri="{FF2B5EF4-FFF2-40B4-BE49-F238E27FC236}">
                <a16:creationId xmlns:a16="http://schemas.microsoft.com/office/drawing/2014/main" id="{623AC415-9842-AAB9-B259-7F0DB701F6C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0B12005-B826-903D-C5D0-89E4DF59248A}"/>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1452791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6806D5-93B1-7DC1-BDCE-23B89FB562A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650662E-80E1-0BC1-6007-7CD7B352C2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BDADD96-D1C3-C9CF-78BD-8B87D19B002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B85DAB6-749B-4EA8-1DE8-7A5FF8C491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CFF5172-30F7-B3F0-2044-65045D605D3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948A41-018F-EF3A-4C42-F5AA12D0FC84}"/>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8" name="Marcador de pie de página 7">
            <a:extLst>
              <a:ext uri="{FF2B5EF4-FFF2-40B4-BE49-F238E27FC236}">
                <a16:creationId xmlns:a16="http://schemas.microsoft.com/office/drawing/2014/main" id="{1CA1BE09-ED86-DE74-0EDF-3AA70BEDF3B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21F18F30-C80D-559C-5B99-E2814154D135}"/>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3659476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2C108E-A69F-9387-ADFE-BE6A116B406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45FD491A-ED34-0441-AA85-17F7BD8DA1BA}"/>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4" name="Marcador de pie de página 3">
            <a:extLst>
              <a:ext uri="{FF2B5EF4-FFF2-40B4-BE49-F238E27FC236}">
                <a16:creationId xmlns:a16="http://schemas.microsoft.com/office/drawing/2014/main" id="{4F2D15EF-352E-22C8-A592-8909718BADAD}"/>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02503E48-7FE3-379C-60C6-954EC04F6E84}"/>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1183205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8CC3E86-7B72-6B0E-0ABE-DC82A79911CB}"/>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3" name="Marcador de pie de página 2">
            <a:extLst>
              <a:ext uri="{FF2B5EF4-FFF2-40B4-BE49-F238E27FC236}">
                <a16:creationId xmlns:a16="http://schemas.microsoft.com/office/drawing/2014/main" id="{4D932DF4-18DA-4CA3-EDB1-A4E8DB5CB389}"/>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3EA19048-DB08-566B-7F2E-42EB9E8B6BD9}"/>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620333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95AF81-5DA7-AC3F-B6D0-50A1EF3E290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1FAD628-C852-AB44-F760-153C0E92CE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8DBD0F31-F968-F1EF-89F4-53115B0FB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55FEF1A-D18C-20E6-E3F6-8895E6473B4B}"/>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6" name="Marcador de pie de página 5">
            <a:extLst>
              <a:ext uri="{FF2B5EF4-FFF2-40B4-BE49-F238E27FC236}">
                <a16:creationId xmlns:a16="http://schemas.microsoft.com/office/drawing/2014/main" id="{40ACCE73-347F-63E7-6226-C9D6725013F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EA29868-B7E9-4D84-73C3-B32ED020ADB8}"/>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2410821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21D4F-BE79-C852-0A6E-DC646FB740F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A6601DB7-3720-17BF-3CBE-AE33E94F3DE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F137E9F5-04F1-CD6B-141F-86144FB628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C90464F-5C08-52B0-BBFF-F36F25390814}"/>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6" name="Marcador de pie de página 5">
            <a:extLst>
              <a:ext uri="{FF2B5EF4-FFF2-40B4-BE49-F238E27FC236}">
                <a16:creationId xmlns:a16="http://schemas.microsoft.com/office/drawing/2014/main" id="{0705F700-2CA5-D6A5-6755-B7FB6D36496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8069513-F6A2-8493-5A5F-29A4A641D729}"/>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2890731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C4014D-B0F6-3739-BB44-F9A7DE7B9F7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0079441-C75D-54F7-95F1-4FF70883BD1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ED58E7C-DA4D-A148-E7DD-1FAA7BD77092}"/>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5" name="Marcador de pie de página 4">
            <a:extLst>
              <a:ext uri="{FF2B5EF4-FFF2-40B4-BE49-F238E27FC236}">
                <a16:creationId xmlns:a16="http://schemas.microsoft.com/office/drawing/2014/main" id="{DADF122C-B876-22F1-72C3-8EC0FAB9F16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9268AD5-A5A2-A46F-69CF-EF757EA2DC9B}"/>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392524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B6AE9B6-81B1-EFE1-E7E6-8E333588A3D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D335A9A-4A40-3593-50A2-B58FBE3AF47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FAEB29D-5872-749F-8A86-D2D010AC9A69}"/>
              </a:ext>
            </a:extLst>
          </p:cNvPr>
          <p:cNvSpPr>
            <a:spLocks noGrp="1"/>
          </p:cNvSpPr>
          <p:nvPr>
            <p:ph type="dt" sz="half" idx="10"/>
          </p:nvPr>
        </p:nvSpPr>
        <p:spPr/>
        <p:txBody>
          <a:bodyPr/>
          <a:lstStyle/>
          <a:p>
            <a:fld id="{B486F911-8A46-48BE-B5CE-568E0F0DB194}" type="datetimeFigureOut">
              <a:rPr lang="es-CO" smtClean="0"/>
              <a:t>8/10/2026</a:t>
            </a:fld>
            <a:endParaRPr lang="es-CO"/>
          </a:p>
        </p:txBody>
      </p:sp>
      <p:sp>
        <p:nvSpPr>
          <p:cNvPr id="5" name="Marcador de pie de página 4">
            <a:extLst>
              <a:ext uri="{FF2B5EF4-FFF2-40B4-BE49-F238E27FC236}">
                <a16:creationId xmlns:a16="http://schemas.microsoft.com/office/drawing/2014/main" id="{A6B3C991-2A52-14CE-979E-F690D8F3799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3E87AF6-1B05-B1D1-FBB4-BFE95E8531E6}"/>
              </a:ext>
            </a:extLst>
          </p:cNvPr>
          <p:cNvSpPr>
            <a:spLocks noGrp="1"/>
          </p:cNvSpPr>
          <p:nvPr>
            <p:ph type="sldNum" sz="quarter" idx="12"/>
          </p:nvPr>
        </p:nvSpPr>
        <p:spPr/>
        <p:txBody>
          <a:bodyPr/>
          <a:lstStyle/>
          <a:p>
            <a:fld id="{77E4B215-5E66-47CD-9589-63645D19B383}" type="slidenum">
              <a:rPr lang="es-CO" smtClean="0"/>
              <a:t>‹Nº›</a:t>
            </a:fld>
            <a:endParaRPr lang="es-CO"/>
          </a:p>
        </p:txBody>
      </p:sp>
    </p:spTree>
    <p:extLst>
      <p:ext uri="{BB962C8B-B14F-4D97-AF65-F5344CB8AC3E}">
        <p14:creationId xmlns:p14="http://schemas.microsoft.com/office/powerpoint/2010/main" val="3486765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F818D8E-D206-31B6-591A-BD6D06BE2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B3960E4-44D9-E866-AEE2-B01C08F147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63B2CC8-F6D8-5CD3-FB9D-4B170F3798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86F911-8A46-48BE-B5CE-568E0F0DB194}" type="datetimeFigureOut">
              <a:rPr lang="es-CO" smtClean="0"/>
              <a:t>8/10/2026</a:t>
            </a:fld>
            <a:endParaRPr lang="es-CO"/>
          </a:p>
        </p:txBody>
      </p:sp>
      <p:sp>
        <p:nvSpPr>
          <p:cNvPr id="5" name="Marcador de pie de página 4">
            <a:extLst>
              <a:ext uri="{FF2B5EF4-FFF2-40B4-BE49-F238E27FC236}">
                <a16:creationId xmlns:a16="http://schemas.microsoft.com/office/drawing/2014/main" id="{73C0236B-93BE-AF43-36E0-8B9D7A70CF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20894D9B-DD0D-727E-34D9-8D3D187176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E4B215-5E66-47CD-9589-63645D19B383}" type="slidenum">
              <a:rPr lang="es-CO" smtClean="0"/>
              <a:t>‹Nº›</a:t>
            </a:fld>
            <a:endParaRPr lang="es-CO"/>
          </a:p>
        </p:txBody>
      </p:sp>
    </p:spTree>
    <p:extLst>
      <p:ext uri="{BB962C8B-B14F-4D97-AF65-F5344CB8AC3E}">
        <p14:creationId xmlns:p14="http://schemas.microsoft.com/office/powerpoint/2010/main" val="3585826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6A130B7-8A1F-134E-5B8B-D63FF161751F}"/>
              </a:ext>
            </a:extLst>
          </p:cNvPr>
          <p:cNvSpPr txBox="1"/>
          <p:nvPr/>
        </p:nvSpPr>
        <p:spPr>
          <a:xfrm>
            <a:off x="4484557" y="3244334"/>
            <a:ext cx="3222885" cy="369332"/>
          </a:xfrm>
          <a:prstGeom prst="rect">
            <a:avLst/>
          </a:prstGeom>
          <a:noFill/>
        </p:spPr>
        <p:txBody>
          <a:bodyPr wrap="square" rtlCol="0">
            <a:spAutoFit/>
          </a:bodyPr>
          <a:lstStyle/>
          <a:p>
            <a:r>
              <a:rPr lang="es-CO" dirty="0"/>
              <a:t>BASE DE DATOS DE ENVASES</a:t>
            </a:r>
          </a:p>
        </p:txBody>
      </p:sp>
    </p:spTree>
    <p:extLst>
      <p:ext uri="{BB962C8B-B14F-4D97-AF65-F5344CB8AC3E}">
        <p14:creationId xmlns:p14="http://schemas.microsoft.com/office/powerpoint/2010/main" val="2175787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2E508-3FBD-5E12-1BC1-E7C53C330DA4}"/>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A1DE1E45-D7D4-D584-1077-633509747C1F}"/>
              </a:ext>
            </a:extLst>
          </p:cNvPr>
          <p:cNvSpPr txBox="1"/>
          <p:nvPr/>
        </p:nvSpPr>
        <p:spPr>
          <a:xfrm>
            <a:off x="2640767" y="889843"/>
            <a:ext cx="6910466" cy="5078313"/>
          </a:xfrm>
          <a:prstGeom prst="rect">
            <a:avLst/>
          </a:prstGeom>
          <a:noFill/>
        </p:spPr>
        <p:txBody>
          <a:bodyPr wrap="square" rtlCol="0">
            <a:spAutoFit/>
          </a:bodyPr>
          <a:lstStyle/>
          <a:p>
            <a:r>
              <a:rPr lang="es-CO" dirty="0"/>
              <a:t>Objetivo: crear una base de datos para identificar de manera rápida que tipo de envase es el que se necesito para un proyecto.</a:t>
            </a:r>
          </a:p>
          <a:p>
            <a:endParaRPr lang="es-CO" dirty="0"/>
          </a:p>
          <a:p>
            <a:r>
              <a:rPr lang="es-CO" dirty="0"/>
              <a:t>Enfocado: para diseñadores gráficos y lideres de un área de innovación.</a:t>
            </a:r>
          </a:p>
          <a:p>
            <a:endParaRPr lang="es-CO" dirty="0"/>
          </a:p>
          <a:p>
            <a:r>
              <a:rPr lang="es-CO" dirty="0"/>
              <a:t>Problema: La idea nace de la problemática que se presenta en mi área de innovación en SIMONIZCO porque muchas veces los ingenieros o nuestro jefe de área solicita hacer un arte en un envase y los diseñadores no tienen conocimiento de que envase es el que le hablan y terminan preguntando siempre, esta base de datos facilitara tanto a los diseñadores como a todos los compañeros del área de saber que envase necesitan y que especificaciones tienen.</a:t>
            </a:r>
          </a:p>
          <a:p>
            <a:endParaRPr lang="es-CO" dirty="0"/>
          </a:p>
          <a:p>
            <a:r>
              <a:rPr lang="es-CO" dirty="0"/>
              <a:t>Solución: tener una base de datos con ficha técnica para conocer que tipo de envase se trabaja y tiene ejemplos de productos de la empresa que ya se han desarrollado, también se incorpora una IA para poder crear diseños en el envase que se consulto.</a:t>
            </a:r>
          </a:p>
        </p:txBody>
      </p:sp>
    </p:spTree>
    <p:extLst>
      <p:ext uri="{BB962C8B-B14F-4D97-AF65-F5344CB8AC3E}">
        <p14:creationId xmlns:p14="http://schemas.microsoft.com/office/powerpoint/2010/main" val="2724759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FF63D-EF93-BD3F-6B97-15331485272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27F9BE1-93CE-8AD8-9C98-BFFC6988A555}"/>
              </a:ext>
            </a:extLst>
          </p:cNvPr>
          <p:cNvSpPr txBox="1"/>
          <p:nvPr/>
        </p:nvSpPr>
        <p:spPr>
          <a:xfrm>
            <a:off x="3333438" y="3105834"/>
            <a:ext cx="5525124" cy="646331"/>
          </a:xfrm>
          <a:prstGeom prst="rect">
            <a:avLst/>
          </a:prstGeom>
          <a:noFill/>
        </p:spPr>
        <p:txBody>
          <a:bodyPr wrap="square">
            <a:spAutoFit/>
          </a:bodyPr>
          <a:lstStyle/>
          <a:p>
            <a:r>
              <a:rPr lang="es-CO" dirty="0"/>
              <a:t>la descripción, las funcionalidades y el alcance de la solución propuesta.</a:t>
            </a:r>
          </a:p>
        </p:txBody>
      </p:sp>
    </p:spTree>
    <p:extLst>
      <p:ext uri="{BB962C8B-B14F-4D97-AF65-F5344CB8AC3E}">
        <p14:creationId xmlns:p14="http://schemas.microsoft.com/office/powerpoint/2010/main" val="3497603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D4F2C-4C22-1B82-19A7-630DBF461A71}"/>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EF05413-AA6C-092A-71CC-4131A85D0BB1}"/>
              </a:ext>
            </a:extLst>
          </p:cNvPr>
          <p:cNvSpPr txBox="1"/>
          <p:nvPr/>
        </p:nvSpPr>
        <p:spPr>
          <a:xfrm>
            <a:off x="3049250" y="375472"/>
            <a:ext cx="6093500" cy="523220"/>
          </a:xfrm>
          <a:prstGeom prst="rect">
            <a:avLst/>
          </a:prstGeom>
          <a:noFill/>
        </p:spPr>
        <p:txBody>
          <a:bodyPr wrap="square">
            <a:spAutoFit/>
          </a:bodyPr>
          <a:lstStyle/>
          <a:p>
            <a:pPr>
              <a:defRPr sz="2800" b="1">
                <a:solidFill>
                  <a:srgbClr val="182234"/>
                </a:solidFill>
                <a:latin typeface="Aptos Display"/>
              </a:defRPr>
            </a:pPr>
            <a:r>
              <a:rPr lang="es-CO" sz="2800" noProof="0" dirty="0"/>
              <a:t>Paso 1 — Construcción del dataset</a:t>
            </a:r>
          </a:p>
        </p:txBody>
      </p:sp>
    </p:spTree>
    <p:extLst>
      <p:ext uri="{BB962C8B-B14F-4D97-AF65-F5344CB8AC3E}">
        <p14:creationId xmlns:p14="http://schemas.microsoft.com/office/powerpoint/2010/main" val="874860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30344-B54B-6F8F-97A3-06D2DC713E99}"/>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4A824ADF-DE36-88F1-A962-794D68FEDBD7}"/>
              </a:ext>
            </a:extLst>
          </p:cNvPr>
          <p:cNvSpPr txBox="1"/>
          <p:nvPr/>
        </p:nvSpPr>
        <p:spPr>
          <a:xfrm>
            <a:off x="3846794" y="328659"/>
            <a:ext cx="4498411"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Paso 2 — Entrenar el modelo</a:t>
            </a:r>
          </a:p>
        </p:txBody>
      </p:sp>
      <p:pic>
        <p:nvPicPr>
          <p:cNvPr id="3" name="Imagen 2">
            <a:extLst>
              <a:ext uri="{FF2B5EF4-FFF2-40B4-BE49-F238E27FC236}">
                <a16:creationId xmlns:a16="http://schemas.microsoft.com/office/drawing/2014/main" id="{E7999D2A-B450-1213-E0AF-1819B129BF09}"/>
              </a:ext>
            </a:extLst>
          </p:cNvPr>
          <p:cNvPicPr>
            <a:picLocks noChangeAspect="1"/>
          </p:cNvPicPr>
          <p:nvPr/>
        </p:nvPicPr>
        <p:blipFill>
          <a:blip r:embed="rId2"/>
          <a:stretch>
            <a:fillRect/>
          </a:stretch>
        </p:blipFill>
        <p:spPr>
          <a:xfrm>
            <a:off x="1097437" y="938901"/>
            <a:ext cx="9997125" cy="4980199"/>
          </a:xfrm>
          <a:prstGeom prst="rect">
            <a:avLst/>
          </a:prstGeom>
        </p:spPr>
      </p:pic>
    </p:spTree>
    <p:extLst>
      <p:ext uri="{BB962C8B-B14F-4D97-AF65-F5344CB8AC3E}">
        <p14:creationId xmlns:p14="http://schemas.microsoft.com/office/powerpoint/2010/main" val="2768283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71337-3242-DD98-8F9B-4C79B73D89EF}"/>
            </a:ext>
          </a:extLst>
        </p:cNvPr>
        <p:cNvGrpSpPr/>
        <p:nvPr/>
      </p:nvGrpSpPr>
      <p:grpSpPr>
        <a:xfrm>
          <a:off x="0" y="0"/>
          <a:ext cx="0" cy="0"/>
          <a:chOff x="0" y="0"/>
          <a:chExt cx="0" cy="0"/>
        </a:xfrm>
      </p:grpSpPr>
      <p:sp>
        <p:nvSpPr>
          <p:cNvPr id="4" name="TextBox 5">
            <a:extLst>
              <a:ext uri="{FF2B5EF4-FFF2-40B4-BE49-F238E27FC236}">
                <a16:creationId xmlns:a16="http://schemas.microsoft.com/office/drawing/2014/main" id="{E1B38933-BD15-B894-9277-18E7597CE08C}"/>
              </a:ext>
            </a:extLst>
          </p:cNvPr>
          <p:cNvSpPr txBox="1"/>
          <p:nvPr/>
        </p:nvSpPr>
        <p:spPr>
          <a:xfrm>
            <a:off x="3846794" y="328659"/>
            <a:ext cx="4498411"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Paso 2 — Entrenar el modelo</a:t>
            </a:r>
          </a:p>
        </p:txBody>
      </p:sp>
    </p:spTree>
    <p:extLst>
      <p:ext uri="{BB962C8B-B14F-4D97-AF65-F5344CB8AC3E}">
        <p14:creationId xmlns:p14="http://schemas.microsoft.com/office/powerpoint/2010/main" val="1749074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46ED8-2941-59B6-25CB-58796AC0F3F3}"/>
            </a:ext>
          </a:extLst>
        </p:cNvPr>
        <p:cNvGrpSpPr/>
        <p:nvPr/>
      </p:nvGrpSpPr>
      <p:grpSpPr>
        <a:xfrm>
          <a:off x="0" y="0"/>
          <a:ext cx="0" cy="0"/>
          <a:chOff x="0" y="0"/>
          <a:chExt cx="0" cy="0"/>
        </a:xfrm>
      </p:grpSpPr>
      <p:sp>
        <p:nvSpPr>
          <p:cNvPr id="3" name="TextBox 5">
            <a:extLst>
              <a:ext uri="{FF2B5EF4-FFF2-40B4-BE49-F238E27FC236}">
                <a16:creationId xmlns:a16="http://schemas.microsoft.com/office/drawing/2014/main" id="{72419385-9980-BDD8-0A22-2C8A0666A136}"/>
              </a:ext>
            </a:extLst>
          </p:cNvPr>
          <p:cNvSpPr txBox="1"/>
          <p:nvPr/>
        </p:nvSpPr>
        <p:spPr>
          <a:xfrm>
            <a:off x="3846794" y="328659"/>
            <a:ext cx="4498411"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Paso 2 — Entrenar el modelo</a:t>
            </a:r>
          </a:p>
        </p:txBody>
      </p:sp>
      <p:pic>
        <p:nvPicPr>
          <p:cNvPr id="5" name="Imagen 4">
            <a:extLst>
              <a:ext uri="{FF2B5EF4-FFF2-40B4-BE49-F238E27FC236}">
                <a16:creationId xmlns:a16="http://schemas.microsoft.com/office/drawing/2014/main" id="{777A6B70-364D-AA5C-A72A-CF4AFD82A380}"/>
              </a:ext>
            </a:extLst>
          </p:cNvPr>
          <p:cNvPicPr>
            <a:picLocks noChangeAspect="1"/>
          </p:cNvPicPr>
          <p:nvPr/>
        </p:nvPicPr>
        <p:blipFill>
          <a:blip r:embed="rId2"/>
          <a:stretch>
            <a:fillRect/>
          </a:stretch>
        </p:blipFill>
        <p:spPr>
          <a:xfrm>
            <a:off x="1057982" y="1394986"/>
            <a:ext cx="10076033" cy="4997417"/>
          </a:xfrm>
          <a:prstGeom prst="rect">
            <a:avLst/>
          </a:prstGeom>
        </p:spPr>
      </p:pic>
      <p:sp>
        <p:nvSpPr>
          <p:cNvPr id="7" name="TextBox 6">
            <a:extLst>
              <a:ext uri="{FF2B5EF4-FFF2-40B4-BE49-F238E27FC236}">
                <a16:creationId xmlns:a16="http://schemas.microsoft.com/office/drawing/2014/main" id="{80D7BE07-2702-D026-A461-D7ED2ADDF5C5}"/>
              </a:ext>
            </a:extLst>
          </p:cNvPr>
          <p:cNvSpPr txBox="1"/>
          <p:nvPr/>
        </p:nvSpPr>
        <p:spPr>
          <a:xfrm>
            <a:off x="623315" y="851879"/>
            <a:ext cx="10945368"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dirty="0">
                <a:solidFill>
                  <a:schemeClr val="tx1">
                    <a:lumMod val="95000"/>
                    <a:lumOff val="5000"/>
                  </a:schemeClr>
                </a:solidFill>
              </a:rPr>
              <a:t>Comienzo con las pruebas para ver que el entrenamiento inicial funcione correctamente, realizo la prueba con diferentes envases</a:t>
            </a:r>
            <a:endParaRPr lang="es-CO" sz="1400" noProof="0" dirty="0">
              <a:solidFill>
                <a:schemeClr val="tx1">
                  <a:lumMod val="95000"/>
                  <a:lumOff val="5000"/>
                </a:schemeClr>
              </a:solidFill>
            </a:endParaRPr>
          </a:p>
        </p:txBody>
      </p:sp>
    </p:spTree>
    <p:extLst>
      <p:ext uri="{BB962C8B-B14F-4D97-AF65-F5344CB8AC3E}">
        <p14:creationId xmlns:p14="http://schemas.microsoft.com/office/powerpoint/2010/main" val="2177795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0F7C8-403F-C128-647A-99259AC9E39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A03101D-698F-28F1-1A2C-4BA73A0369D0}"/>
              </a:ext>
            </a:extLst>
          </p:cNvPr>
          <p:cNvSpPr txBox="1"/>
          <p:nvPr/>
        </p:nvSpPr>
        <p:spPr>
          <a:xfrm>
            <a:off x="3753162" y="210579"/>
            <a:ext cx="4685675" cy="523220"/>
          </a:xfrm>
          <a:prstGeom prst="rect">
            <a:avLst/>
          </a:prstGeom>
          <a:noFill/>
        </p:spPr>
        <p:txBody>
          <a:bodyPr wrap="square">
            <a:spAutoFit/>
          </a:bodyPr>
          <a:lstStyle/>
          <a:p>
            <a:pPr>
              <a:defRPr sz="2800" b="1">
                <a:solidFill>
                  <a:srgbClr val="182234"/>
                </a:solidFill>
                <a:latin typeface="Aptos Display"/>
              </a:defRPr>
            </a:pPr>
            <a:r>
              <a:rPr lang="es-CO" sz="2800" dirty="0"/>
              <a:t>Paso 3 — Probar la predicción</a:t>
            </a:r>
          </a:p>
        </p:txBody>
      </p:sp>
      <p:pic>
        <p:nvPicPr>
          <p:cNvPr id="5" name="Imagen 4">
            <a:extLst>
              <a:ext uri="{FF2B5EF4-FFF2-40B4-BE49-F238E27FC236}">
                <a16:creationId xmlns:a16="http://schemas.microsoft.com/office/drawing/2014/main" id="{8B66F9CF-AFC7-A5C1-57FD-2C5AE590AA61}"/>
              </a:ext>
            </a:extLst>
          </p:cNvPr>
          <p:cNvPicPr>
            <a:picLocks noChangeAspect="1"/>
          </p:cNvPicPr>
          <p:nvPr/>
        </p:nvPicPr>
        <p:blipFill>
          <a:blip r:embed="rId2"/>
          <a:stretch>
            <a:fillRect/>
          </a:stretch>
        </p:blipFill>
        <p:spPr>
          <a:xfrm>
            <a:off x="1057982" y="1462555"/>
            <a:ext cx="10076033" cy="5012181"/>
          </a:xfrm>
          <a:prstGeom prst="rect">
            <a:avLst/>
          </a:prstGeom>
        </p:spPr>
      </p:pic>
      <p:sp>
        <p:nvSpPr>
          <p:cNvPr id="7" name="TextBox 6">
            <a:extLst>
              <a:ext uri="{FF2B5EF4-FFF2-40B4-BE49-F238E27FC236}">
                <a16:creationId xmlns:a16="http://schemas.microsoft.com/office/drawing/2014/main" id="{28770A52-4B52-EDC1-CBCD-46EC79F929B9}"/>
              </a:ext>
            </a:extLst>
          </p:cNvPr>
          <p:cNvSpPr txBox="1"/>
          <p:nvPr/>
        </p:nvSpPr>
        <p:spPr>
          <a:xfrm>
            <a:off x="623315" y="851879"/>
            <a:ext cx="10945368"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Se hace la prueba con un envase que no se encuentra en la base de datos y muestra una coincidencia del 76% en una de las clases, esto me ayuda a saber como limitar </a:t>
            </a:r>
            <a:r>
              <a:rPr lang="es-CO" sz="1400" dirty="0">
                <a:solidFill>
                  <a:schemeClr val="tx1">
                    <a:lumMod val="95000"/>
                    <a:lumOff val="5000"/>
                  </a:schemeClr>
                </a:solidFill>
              </a:rPr>
              <a:t>los parámetros en mi interfaz</a:t>
            </a:r>
            <a:endParaRPr lang="es-CO" sz="1400" noProof="0" dirty="0">
              <a:solidFill>
                <a:schemeClr val="tx1">
                  <a:lumMod val="95000"/>
                  <a:lumOff val="5000"/>
                </a:schemeClr>
              </a:solidFill>
            </a:endParaRPr>
          </a:p>
        </p:txBody>
      </p:sp>
    </p:spTree>
    <p:extLst>
      <p:ext uri="{BB962C8B-B14F-4D97-AF65-F5344CB8AC3E}">
        <p14:creationId xmlns:p14="http://schemas.microsoft.com/office/powerpoint/2010/main" val="2432913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87B6C-DC3C-A0B3-A243-3A0997C41C5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3ED4F4E-20C4-1A9B-68A6-B4B9C6A6C34F}"/>
              </a:ext>
            </a:extLst>
          </p:cNvPr>
          <p:cNvSpPr txBox="1"/>
          <p:nvPr/>
        </p:nvSpPr>
        <p:spPr>
          <a:xfrm>
            <a:off x="3753162" y="210579"/>
            <a:ext cx="4685675" cy="523220"/>
          </a:xfrm>
          <a:prstGeom prst="rect">
            <a:avLst/>
          </a:prstGeom>
          <a:noFill/>
        </p:spPr>
        <p:txBody>
          <a:bodyPr wrap="square">
            <a:spAutoFit/>
          </a:bodyPr>
          <a:lstStyle/>
          <a:p>
            <a:pPr>
              <a:defRPr sz="2800" b="1">
                <a:solidFill>
                  <a:srgbClr val="182234"/>
                </a:solidFill>
                <a:latin typeface="Aptos Display"/>
              </a:defRPr>
            </a:pPr>
            <a:r>
              <a:rPr lang="es-CO" sz="2800" dirty="0"/>
              <a:t>Paso 3 — Probar la predicción</a:t>
            </a:r>
          </a:p>
        </p:txBody>
      </p:sp>
      <p:pic>
        <p:nvPicPr>
          <p:cNvPr id="4" name="Imagen 3">
            <a:extLst>
              <a:ext uri="{FF2B5EF4-FFF2-40B4-BE49-F238E27FC236}">
                <a16:creationId xmlns:a16="http://schemas.microsoft.com/office/drawing/2014/main" id="{B43742CA-CB9F-7426-94D5-AEBABCE40501}"/>
              </a:ext>
            </a:extLst>
          </p:cNvPr>
          <p:cNvPicPr>
            <a:picLocks noChangeAspect="1"/>
          </p:cNvPicPr>
          <p:nvPr/>
        </p:nvPicPr>
        <p:blipFill>
          <a:blip r:embed="rId2"/>
          <a:stretch>
            <a:fillRect/>
          </a:stretch>
        </p:blipFill>
        <p:spPr>
          <a:xfrm>
            <a:off x="1057982" y="1559838"/>
            <a:ext cx="10076033" cy="4982653"/>
          </a:xfrm>
          <a:prstGeom prst="rect">
            <a:avLst/>
          </a:prstGeom>
        </p:spPr>
      </p:pic>
      <p:sp>
        <p:nvSpPr>
          <p:cNvPr id="8" name="CuadroTexto 7">
            <a:extLst>
              <a:ext uri="{FF2B5EF4-FFF2-40B4-BE49-F238E27FC236}">
                <a16:creationId xmlns:a16="http://schemas.microsoft.com/office/drawing/2014/main" id="{6326CB5C-BFF6-4077-BA75-66CC08A077CC}"/>
              </a:ext>
            </a:extLst>
          </p:cNvPr>
          <p:cNvSpPr txBox="1"/>
          <p:nvPr/>
        </p:nvSpPr>
        <p:spPr>
          <a:xfrm>
            <a:off x="1057981" y="755001"/>
            <a:ext cx="10076033" cy="738664"/>
          </a:xfrm>
          <a:prstGeom prst="rect">
            <a:avLst/>
          </a:prstGeom>
          <a:noFill/>
        </p:spPr>
        <p:txBody>
          <a:bodyPr wrap="square">
            <a:spAutoFit/>
          </a:bodyPr>
          <a:lstStyle/>
          <a:p>
            <a:pPr>
              <a:defRPr sz="1250">
                <a:solidFill>
                  <a:srgbClr val="5C697E"/>
                </a:solidFill>
                <a:latin typeface="Aptos"/>
              </a:defRPr>
            </a:pPr>
            <a:r>
              <a:rPr lang="es-CO" sz="1400" noProof="0" dirty="0">
                <a:solidFill>
                  <a:schemeClr val="tx1">
                    <a:lumMod val="95000"/>
                    <a:lumOff val="5000"/>
                  </a:schemeClr>
                </a:solidFill>
              </a:rPr>
              <a:t>En este caso se sube una imagen con un envase que se encuentra en las clases pero puedo observar que por la imagen de la etiqueta crea un conflicto al identificar a cual de las dos clases que existe galón este pertenece, en la interfaz se ajusta este tema, para que identifique de manera exacta</a:t>
            </a:r>
          </a:p>
        </p:txBody>
      </p:sp>
    </p:spTree>
    <p:extLst>
      <p:ext uri="{BB962C8B-B14F-4D97-AF65-F5344CB8AC3E}">
        <p14:creationId xmlns:p14="http://schemas.microsoft.com/office/powerpoint/2010/main" val="2249932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D1A95-10CF-1A27-7697-E48F6A94D9AE}"/>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53BA64AC-22AA-81A1-C514-DFCF42B37354}"/>
              </a:ext>
            </a:extLst>
          </p:cNvPr>
          <p:cNvSpPr txBox="1"/>
          <p:nvPr/>
        </p:nvSpPr>
        <p:spPr>
          <a:xfrm>
            <a:off x="3333438" y="1997839"/>
            <a:ext cx="5525124" cy="2862322"/>
          </a:xfrm>
          <a:prstGeom prst="rect">
            <a:avLst/>
          </a:prstGeom>
          <a:noFill/>
        </p:spPr>
        <p:txBody>
          <a:bodyPr wrap="square">
            <a:spAutoFit/>
          </a:bodyPr>
          <a:lstStyle/>
          <a:p>
            <a:r>
              <a:rPr lang="es-CO" dirty="0"/>
              <a:t>En el primer ensayo se encontró las siguientes limites:</a:t>
            </a:r>
          </a:p>
          <a:p>
            <a:r>
              <a:rPr lang="es-CO" dirty="0">
                <a:solidFill>
                  <a:schemeClr val="tx1">
                    <a:lumMod val="95000"/>
                    <a:lumOff val="5000"/>
                  </a:schemeClr>
                </a:solidFill>
              </a:rPr>
              <a:t>• Puede forzar una predicción ante una entrada desconocida.</a:t>
            </a:r>
            <a:br>
              <a:rPr lang="es-CO" dirty="0">
                <a:solidFill>
                  <a:schemeClr val="tx1">
                    <a:lumMod val="95000"/>
                    <a:lumOff val="5000"/>
                  </a:schemeClr>
                </a:solidFill>
              </a:rPr>
            </a:br>
            <a:r>
              <a:rPr lang="es-CO" dirty="0">
                <a:solidFill>
                  <a:schemeClr val="tx1">
                    <a:lumMod val="95000"/>
                    <a:lumOff val="5000"/>
                  </a:schemeClr>
                </a:solidFill>
              </a:rPr>
              <a:t>• El dataset es reducido y desigual entre clases.</a:t>
            </a:r>
            <a:br>
              <a:rPr lang="es-CO" dirty="0">
                <a:solidFill>
                  <a:schemeClr val="tx1">
                    <a:lumMod val="95000"/>
                    <a:lumOff val="5000"/>
                  </a:schemeClr>
                </a:solidFill>
              </a:rPr>
            </a:br>
            <a:r>
              <a:rPr lang="es-CO" dirty="0">
                <a:solidFill>
                  <a:schemeClr val="tx1">
                    <a:lumMod val="95000"/>
                    <a:lumOff val="5000"/>
                  </a:schemeClr>
                </a:solidFill>
              </a:rPr>
              <a:t>• Se requiere más validación para afirmar una generalización amplia.</a:t>
            </a:r>
          </a:p>
          <a:p>
            <a:endParaRPr lang="es-CO" dirty="0"/>
          </a:p>
          <a:p>
            <a:r>
              <a:rPr lang="es-CO" dirty="0"/>
              <a:t>Se ajusto ampliando las fotografías de cada clase para disminuir la predicción forzada a una entrada desconocida.</a:t>
            </a:r>
          </a:p>
        </p:txBody>
      </p:sp>
    </p:spTree>
    <p:extLst>
      <p:ext uri="{BB962C8B-B14F-4D97-AF65-F5344CB8AC3E}">
        <p14:creationId xmlns:p14="http://schemas.microsoft.com/office/powerpoint/2010/main" val="3251847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04FF7-2709-9920-96AF-890CE0234CFD}"/>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EE23E28A-61EF-E10C-C62E-AFB6A80EDDC4}"/>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3" name="TextBox 6">
            <a:extLst>
              <a:ext uri="{FF2B5EF4-FFF2-40B4-BE49-F238E27FC236}">
                <a16:creationId xmlns:a16="http://schemas.microsoft.com/office/drawing/2014/main" id="{CDEB5570-1FA6-38E0-CE46-C8955A116E91}"/>
              </a:ext>
            </a:extLst>
          </p:cNvPr>
          <p:cNvSpPr txBox="1"/>
          <p:nvPr/>
        </p:nvSpPr>
        <p:spPr>
          <a:xfrm>
            <a:off x="623315" y="851879"/>
            <a:ext cx="10945368" cy="73866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El prototipo integra tres componentes: un modelo visual entrenado en Teachable Machine, una interfaz web desarrollada en Visual Studio Code y una estructura de datos que relaciona cada clase con su ficha técnica.</a:t>
            </a:r>
          </a:p>
          <a:p>
            <a:pPr>
              <a:defRPr sz="1250">
                <a:solidFill>
                  <a:srgbClr val="5C697E"/>
                </a:solidFill>
                <a:latin typeface="Aptos"/>
              </a:defRPr>
            </a:pPr>
            <a:r>
              <a:rPr lang="es-CO" sz="1400" dirty="0">
                <a:solidFill>
                  <a:schemeClr val="tx1">
                    <a:lumMod val="95000"/>
                    <a:lumOff val="5000"/>
                  </a:schemeClr>
                </a:solidFill>
              </a:rPr>
              <a:t>Comparto el link del prototipo:</a:t>
            </a:r>
            <a:endParaRPr lang="es-CO" sz="1400" noProof="0" dirty="0">
              <a:solidFill>
                <a:schemeClr val="tx1">
                  <a:lumMod val="95000"/>
                  <a:lumOff val="5000"/>
                </a:schemeClr>
              </a:solidFill>
            </a:endParaRPr>
          </a:p>
        </p:txBody>
      </p:sp>
      <p:pic>
        <p:nvPicPr>
          <p:cNvPr id="6" name="Imagen 5">
            <a:extLst>
              <a:ext uri="{FF2B5EF4-FFF2-40B4-BE49-F238E27FC236}">
                <a16:creationId xmlns:a16="http://schemas.microsoft.com/office/drawing/2014/main" id="{C35FA12E-A7C0-E2BC-D06D-B1255EC19994}"/>
              </a:ext>
            </a:extLst>
          </p:cNvPr>
          <p:cNvPicPr>
            <a:picLocks noChangeAspect="1"/>
          </p:cNvPicPr>
          <p:nvPr/>
        </p:nvPicPr>
        <p:blipFill>
          <a:blip r:embed="rId2"/>
          <a:stretch>
            <a:fillRect/>
          </a:stretch>
        </p:blipFill>
        <p:spPr>
          <a:xfrm>
            <a:off x="1792546" y="1798970"/>
            <a:ext cx="8606907" cy="4508380"/>
          </a:xfrm>
          <a:prstGeom prst="rect">
            <a:avLst/>
          </a:prstGeom>
        </p:spPr>
      </p:pic>
    </p:spTree>
    <p:extLst>
      <p:ext uri="{BB962C8B-B14F-4D97-AF65-F5344CB8AC3E}">
        <p14:creationId xmlns:p14="http://schemas.microsoft.com/office/powerpoint/2010/main" val="623696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73218-A070-181F-BE74-71E13590BB20}"/>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87CB1697-E2EC-88AC-3789-6B549BB7250A}"/>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8" name="TextBox 6">
            <a:extLst>
              <a:ext uri="{FF2B5EF4-FFF2-40B4-BE49-F238E27FC236}">
                <a16:creationId xmlns:a16="http://schemas.microsoft.com/office/drawing/2014/main" id="{A23D7F70-295D-E255-4371-9AFD26D5CDD3}"/>
              </a:ext>
            </a:extLst>
          </p:cNvPr>
          <p:cNvSpPr txBox="1"/>
          <p:nvPr/>
        </p:nvSpPr>
        <p:spPr>
          <a:xfrm>
            <a:off x="623315" y="851879"/>
            <a:ext cx="10945368"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dirty="0">
                <a:solidFill>
                  <a:schemeClr val="tx1">
                    <a:lumMod val="95000"/>
                    <a:lumOff val="5000"/>
                  </a:schemeClr>
                </a:solidFill>
              </a:rPr>
              <a:t>Se hace una primera prueba, comprobando que la primera instrucción que se hace en visual studio code cumpla y no presente algún error, se deja la opción de subir una imagen o con la cámara proyectar el envase</a:t>
            </a:r>
            <a:endParaRPr lang="es-CO" sz="1400" noProof="0" dirty="0">
              <a:solidFill>
                <a:schemeClr val="tx1">
                  <a:lumMod val="95000"/>
                  <a:lumOff val="5000"/>
                </a:schemeClr>
              </a:solidFill>
            </a:endParaRPr>
          </a:p>
        </p:txBody>
      </p:sp>
      <p:pic>
        <p:nvPicPr>
          <p:cNvPr id="10" name="Imagen 9">
            <a:extLst>
              <a:ext uri="{FF2B5EF4-FFF2-40B4-BE49-F238E27FC236}">
                <a16:creationId xmlns:a16="http://schemas.microsoft.com/office/drawing/2014/main" id="{28775981-45E7-8364-DC70-730C4F1A245D}"/>
              </a:ext>
            </a:extLst>
          </p:cNvPr>
          <p:cNvPicPr>
            <a:picLocks noChangeAspect="1"/>
          </p:cNvPicPr>
          <p:nvPr/>
        </p:nvPicPr>
        <p:blipFill>
          <a:blip r:embed="rId2"/>
          <a:stretch>
            <a:fillRect/>
          </a:stretch>
        </p:blipFill>
        <p:spPr>
          <a:xfrm>
            <a:off x="1057982" y="1554069"/>
            <a:ext cx="10076033" cy="4975272"/>
          </a:xfrm>
          <a:prstGeom prst="rect">
            <a:avLst/>
          </a:prstGeom>
        </p:spPr>
      </p:pic>
    </p:spTree>
    <p:extLst>
      <p:ext uri="{BB962C8B-B14F-4D97-AF65-F5344CB8AC3E}">
        <p14:creationId xmlns:p14="http://schemas.microsoft.com/office/powerpoint/2010/main" val="556599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3F888-403B-1BD9-DB88-56B9865167B7}"/>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B1D2D01B-9ACE-83C1-6C1A-AEEE59621392}"/>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pic>
        <p:nvPicPr>
          <p:cNvPr id="5" name="Imagen 4">
            <a:extLst>
              <a:ext uri="{FF2B5EF4-FFF2-40B4-BE49-F238E27FC236}">
                <a16:creationId xmlns:a16="http://schemas.microsoft.com/office/drawing/2014/main" id="{247C4712-E010-FE95-5F1B-A5FA1E7846BB}"/>
              </a:ext>
            </a:extLst>
          </p:cNvPr>
          <p:cNvPicPr>
            <a:picLocks noChangeAspect="1"/>
          </p:cNvPicPr>
          <p:nvPr/>
        </p:nvPicPr>
        <p:blipFill>
          <a:blip r:embed="rId2"/>
          <a:stretch>
            <a:fillRect/>
          </a:stretch>
        </p:blipFill>
        <p:spPr>
          <a:xfrm>
            <a:off x="1515984" y="1855971"/>
            <a:ext cx="9160030" cy="4824954"/>
          </a:xfrm>
          <a:prstGeom prst="rect">
            <a:avLst/>
          </a:prstGeom>
        </p:spPr>
      </p:pic>
      <p:sp>
        <p:nvSpPr>
          <p:cNvPr id="8" name="TextBox 6">
            <a:extLst>
              <a:ext uri="{FF2B5EF4-FFF2-40B4-BE49-F238E27FC236}">
                <a16:creationId xmlns:a16="http://schemas.microsoft.com/office/drawing/2014/main" id="{DD134DB8-85EC-40F4-E414-D45ACDFA6F63}"/>
              </a:ext>
            </a:extLst>
          </p:cNvPr>
          <p:cNvSpPr txBox="1"/>
          <p:nvPr/>
        </p:nvSpPr>
        <p:spPr>
          <a:xfrm>
            <a:off x="623315" y="851879"/>
            <a:ext cx="10945368" cy="73866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dirty="0">
                <a:solidFill>
                  <a:schemeClr val="tx1">
                    <a:lumMod val="95000"/>
                    <a:lumOff val="5000"/>
                  </a:schemeClr>
                </a:solidFill>
              </a:rPr>
              <a:t>Las primeras instrucciones funcionan con normalidad pero se debe ajustar el parámetro que aparezcan ejemplos solo del envase que se encuentra en Teachable machine, en este caso se crea un prompts dando la instrucción de mejorar estos parámetros, donde si no se encuentran ejemplos de los envases que se buscan aparezca un mensaje que es un PRODUCTO NUEVO.</a:t>
            </a:r>
            <a:endParaRPr lang="es-CO" sz="1400" noProof="0" dirty="0">
              <a:solidFill>
                <a:schemeClr val="tx1">
                  <a:lumMod val="95000"/>
                  <a:lumOff val="5000"/>
                </a:schemeClr>
              </a:solidFill>
            </a:endParaRPr>
          </a:p>
        </p:txBody>
      </p:sp>
    </p:spTree>
    <p:extLst>
      <p:ext uri="{BB962C8B-B14F-4D97-AF65-F5344CB8AC3E}">
        <p14:creationId xmlns:p14="http://schemas.microsoft.com/office/powerpoint/2010/main" val="2459743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5EC10-D33E-7E2A-408E-582B6B118877}"/>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5E1EC2C3-85B1-BA74-4C0A-FC3531C5BB75}"/>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CB2B92F7-1534-7A42-3264-71D082CB9635}"/>
              </a:ext>
            </a:extLst>
          </p:cNvPr>
          <p:cNvSpPr txBox="1"/>
          <p:nvPr/>
        </p:nvSpPr>
        <p:spPr>
          <a:xfrm>
            <a:off x="623315" y="851879"/>
            <a:ext cx="10945368"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Al subir una imagen que si se encuentra en la base de datos aparece el porcentaje de coincidencia</a:t>
            </a:r>
          </a:p>
        </p:txBody>
      </p:sp>
      <p:pic>
        <p:nvPicPr>
          <p:cNvPr id="5" name="Imagen 4">
            <a:extLst>
              <a:ext uri="{FF2B5EF4-FFF2-40B4-BE49-F238E27FC236}">
                <a16:creationId xmlns:a16="http://schemas.microsoft.com/office/drawing/2014/main" id="{D844D204-20E9-D0BD-C381-FD0B24AD22BB}"/>
              </a:ext>
            </a:extLst>
          </p:cNvPr>
          <p:cNvPicPr>
            <a:picLocks noChangeAspect="1"/>
          </p:cNvPicPr>
          <p:nvPr/>
        </p:nvPicPr>
        <p:blipFill>
          <a:blip r:embed="rId2"/>
          <a:stretch>
            <a:fillRect/>
          </a:stretch>
        </p:blipFill>
        <p:spPr>
          <a:xfrm>
            <a:off x="1057982" y="1375099"/>
            <a:ext cx="10076033" cy="5012105"/>
          </a:xfrm>
          <a:prstGeom prst="rect">
            <a:avLst/>
          </a:prstGeom>
        </p:spPr>
      </p:pic>
    </p:spTree>
    <p:extLst>
      <p:ext uri="{BB962C8B-B14F-4D97-AF65-F5344CB8AC3E}">
        <p14:creationId xmlns:p14="http://schemas.microsoft.com/office/powerpoint/2010/main" val="2718407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20B2F-5CF7-93C5-42A0-3815DB5E0C0B}"/>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ED909C91-A6EF-FE61-B8F8-D6630CF1EAA4}"/>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C2B2BD1C-D59E-DDF1-BC92-6D3A936124D0}"/>
              </a:ext>
            </a:extLst>
          </p:cNvPr>
          <p:cNvSpPr txBox="1"/>
          <p:nvPr/>
        </p:nvSpPr>
        <p:spPr>
          <a:xfrm>
            <a:off x="623315" y="851879"/>
            <a:ext cx="10945368"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dirty="0">
                <a:solidFill>
                  <a:schemeClr val="tx1">
                    <a:lumMod val="95000"/>
                    <a:lumOff val="5000"/>
                  </a:schemeClr>
                </a:solidFill>
              </a:rPr>
              <a:t>Al subir una imagen que si se encuentra en la base de datos se </a:t>
            </a:r>
            <a:r>
              <a:rPr lang="es-CO" sz="1400" noProof="0" dirty="0">
                <a:solidFill>
                  <a:schemeClr val="tx1">
                    <a:lumMod val="95000"/>
                    <a:lumOff val="5000"/>
                  </a:schemeClr>
                </a:solidFill>
              </a:rPr>
              <a:t>puede ver la ficha técnica del envase</a:t>
            </a:r>
          </a:p>
        </p:txBody>
      </p:sp>
      <p:pic>
        <p:nvPicPr>
          <p:cNvPr id="4" name="Imagen 3">
            <a:extLst>
              <a:ext uri="{FF2B5EF4-FFF2-40B4-BE49-F238E27FC236}">
                <a16:creationId xmlns:a16="http://schemas.microsoft.com/office/drawing/2014/main" id="{5D901905-BE29-4C2A-7A7E-F1C1CEEC7A27}"/>
              </a:ext>
            </a:extLst>
          </p:cNvPr>
          <p:cNvPicPr>
            <a:picLocks noChangeAspect="1"/>
          </p:cNvPicPr>
          <p:nvPr/>
        </p:nvPicPr>
        <p:blipFill>
          <a:blip r:embed="rId2"/>
          <a:stretch>
            <a:fillRect/>
          </a:stretch>
        </p:blipFill>
        <p:spPr>
          <a:xfrm>
            <a:off x="1057982" y="1454778"/>
            <a:ext cx="10076033" cy="4990035"/>
          </a:xfrm>
          <a:prstGeom prst="rect">
            <a:avLst/>
          </a:prstGeom>
        </p:spPr>
      </p:pic>
    </p:spTree>
    <p:extLst>
      <p:ext uri="{BB962C8B-B14F-4D97-AF65-F5344CB8AC3E}">
        <p14:creationId xmlns:p14="http://schemas.microsoft.com/office/powerpoint/2010/main" val="1633282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39B9-53E2-9F2F-FE5A-BB5B923824A1}"/>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0BC710D1-9CBA-B00F-7FEB-FC6F032D5EE7}"/>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1F076C45-7B38-3DAB-519C-E622E67AE72E}"/>
              </a:ext>
            </a:extLst>
          </p:cNvPr>
          <p:cNvSpPr txBox="1"/>
          <p:nvPr/>
        </p:nvSpPr>
        <p:spPr>
          <a:xfrm>
            <a:off x="623315" y="851879"/>
            <a:ext cx="10945368"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dirty="0">
                <a:solidFill>
                  <a:schemeClr val="tx1">
                    <a:lumMod val="95000"/>
                    <a:lumOff val="5000"/>
                  </a:schemeClr>
                </a:solidFill>
              </a:rPr>
              <a:t>Al subir una imagen que si se encuentra en la base de datos aparecen unos ejemplos de las marcas de la empresa como referencia vidual</a:t>
            </a:r>
            <a:endParaRPr lang="es-CO" sz="1400" noProof="0" dirty="0">
              <a:solidFill>
                <a:schemeClr val="tx1">
                  <a:lumMod val="95000"/>
                  <a:lumOff val="5000"/>
                </a:schemeClr>
              </a:solidFill>
            </a:endParaRPr>
          </a:p>
        </p:txBody>
      </p:sp>
      <p:pic>
        <p:nvPicPr>
          <p:cNvPr id="5" name="Imagen 4">
            <a:extLst>
              <a:ext uri="{FF2B5EF4-FFF2-40B4-BE49-F238E27FC236}">
                <a16:creationId xmlns:a16="http://schemas.microsoft.com/office/drawing/2014/main" id="{BFF0C2A0-C869-CFEA-A2C8-C10164CAB9BD}"/>
              </a:ext>
            </a:extLst>
          </p:cNvPr>
          <p:cNvPicPr>
            <a:picLocks noChangeAspect="1"/>
          </p:cNvPicPr>
          <p:nvPr/>
        </p:nvPicPr>
        <p:blipFill>
          <a:blip r:embed="rId2"/>
          <a:stretch>
            <a:fillRect/>
          </a:stretch>
        </p:blipFill>
        <p:spPr>
          <a:xfrm>
            <a:off x="1057982" y="1375099"/>
            <a:ext cx="10076033" cy="4982653"/>
          </a:xfrm>
          <a:prstGeom prst="rect">
            <a:avLst/>
          </a:prstGeom>
        </p:spPr>
      </p:pic>
    </p:spTree>
    <p:extLst>
      <p:ext uri="{BB962C8B-B14F-4D97-AF65-F5344CB8AC3E}">
        <p14:creationId xmlns:p14="http://schemas.microsoft.com/office/powerpoint/2010/main" val="3782001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FFF56-D534-6ADE-C4D7-0E9221EB8FF0}"/>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41BE5920-6959-9337-2FF9-D34AD686C8FE}"/>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pic>
        <p:nvPicPr>
          <p:cNvPr id="6" name="Imagen 5">
            <a:extLst>
              <a:ext uri="{FF2B5EF4-FFF2-40B4-BE49-F238E27FC236}">
                <a16:creationId xmlns:a16="http://schemas.microsoft.com/office/drawing/2014/main" id="{8067F82A-49A8-49AD-015D-CBE70D17044E}"/>
              </a:ext>
            </a:extLst>
          </p:cNvPr>
          <p:cNvPicPr>
            <a:picLocks noChangeAspect="1"/>
          </p:cNvPicPr>
          <p:nvPr/>
        </p:nvPicPr>
        <p:blipFill>
          <a:blip r:embed="rId2"/>
          <a:stretch>
            <a:fillRect/>
          </a:stretch>
        </p:blipFill>
        <p:spPr>
          <a:xfrm>
            <a:off x="1057982" y="1539306"/>
            <a:ext cx="10076033" cy="4990035"/>
          </a:xfrm>
          <a:prstGeom prst="rect">
            <a:avLst/>
          </a:prstGeom>
        </p:spPr>
      </p:pic>
      <p:sp>
        <p:nvSpPr>
          <p:cNvPr id="9" name="TextBox 6">
            <a:extLst>
              <a:ext uri="{FF2B5EF4-FFF2-40B4-BE49-F238E27FC236}">
                <a16:creationId xmlns:a16="http://schemas.microsoft.com/office/drawing/2014/main" id="{F4ACF691-3FE4-C061-654A-A3A3E0E96393}"/>
              </a:ext>
            </a:extLst>
          </p:cNvPr>
          <p:cNvSpPr txBox="1"/>
          <p:nvPr/>
        </p:nvSpPr>
        <p:spPr>
          <a:xfrm>
            <a:off x="623315" y="851879"/>
            <a:ext cx="10945368"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Se </a:t>
            </a:r>
            <a:r>
              <a:rPr lang="es-CO" sz="1400" dirty="0">
                <a:solidFill>
                  <a:schemeClr val="tx1">
                    <a:lumMod val="95000"/>
                    <a:lumOff val="5000"/>
                  </a:schemeClr>
                </a:solidFill>
              </a:rPr>
              <a:t>ajusto que cuando se suba una imagen o se muestre en cámara un envase que no este en el teachable machine aparezca un mensaje que NO EXISTE ESTE ENVASE, esto solo sucede cuando el envase no coincide con el 95% de confianza.</a:t>
            </a:r>
            <a:endParaRPr lang="es-CO" sz="1400" noProof="0" dirty="0">
              <a:solidFill>
                <a:schemeClr val="tx1">
                  <a:lumMod val="95000"/>
                  <a:lumOff val="5000"/>
                </a:schemeClr>
              </a:solidFill>
            </a:endParaRPr>
          </a:p>
        </p:txBody>
      </p:sp>
    </p:spTree>
    <p:extLst>
      <p:ext uri="{BB962C8B-B14F-4D97-AF65-F5344CB8AC3E}">
        <p14:creationId xmlns:p14="http://schemas.microsoft.com/office/powerpoint/2010/main" val="553215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B6080-1175-E15B-CEAC-E7C27AC14B83}"/>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884E11DD-2DA4-6903-9B46-227A46BC4866}"/>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2951092D-B931-3718-416D-CEFC3AD94535}"/>
              </a:ext>
            </a:extLst>
          </p:cNvPr>
          <p:cNvSpPr txBox="1"/>
          <p:nvPr/>
        </p:nvSpPr>
        <p:spPr>
          <a:xfrm>
            <a:off x="623315" y="851879"/>
            <a:ext cx="10945368"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Se hace un paso a paso con ayuda de </a:t>
            </a:r>
            <a:r>
              <a:rPr lang="es-CO" sz="1400" noProof="0" dirty="0" err="1">
                <a:solidFill>
                  <a:schemeClr val="tx1">
                    <a:lumMod val="95000"/>
                    <a:lumOff val="5000"/>
                  </a:schemeClr>
                </a:solidFill>
              </a:rPr>
              <a:t>chatgpt</a:t>
            </a:r>
            <a:r>
              <a:rPr lang="es-CO" sz="1400" noProof="0" dirty="0">
                <a:solidFill>
                  <a:schemeClr val="tx1">
                    <a:lumMod val="95000"/>
                    <a:lumOff val="5000"/>
                  </a:schemeClr>
                </a:solidFill>
              </a:rPr>
              <a:t> para poner en el proyecto API de </a:t>
            </a:r>
            <a:r>
              <a:rPr lang="es-CO" sz="1400" noProof="0" dirty="0" err="1">
                <a:solidFill>
                  <a:schemeClr val="tx1">
                    <a:lumMod val="95000"/>
                    <a:lumOff val="5000"/>
                  </a:schemeClr>
                </a:solidFill>
              </a:rPr>
              <a:t>OpenAI</a:t>
            </a:r>
            <a:endParaRPr lang="es-CO" sz="1400" noProof="0" dirty="0">
              <a:solidFill>
                <a:schemeClr val="tx1">
                  <a:lumMod val="95000"/>
                  <a:lumOff val="5000"/>
                </a:schemeClr>
              </a:solidFill>
            </a:endParaRPr>
          </a:p>
        </p:txBody>
      </p:sp>
      <p:pic>
        <p:nvPicPr>
          <p:cNvPr id="4" name="Imagen 3">
            <a:extLst>
              <a:ext uri="{FF2B5EF4-FFF2-40B4-BE49-F238E27FC236}">
                <a16:creationId xmlns:a16="http://schemas.microsoft.com/office/drawing/2014/main" id="{707A95F3-FDBF-0935-0F20-6D3F754C4314}"/>
              </a:ext>
            </a:extLst>
          </p:cNvPr>
          <p:cNvPicPr>
            <a:picLocks noChangeAspect="1"/>
          </p:cNvPicPr>
          <p:nvPr/>
        </p:nvPicPr>
        <p:blipFill>
          <a:blip r:embed="rId2"/>
          <a:stretch>
            <a:fillRect/>
          </a:stretch>
        </p:blipFill>
        <p:spPr>
          <a:xfrm>
            <a:off x="1515984" y="1532899"/>
            <a:ext cx="9160030" cy="4811532"/>
          </a:xfrm>
          <a:prstGeom prst="rect">
            <a:avLst/>
          </a:prstGeom>
        </p:spPr>
      </p:pic>
    </p:spTree>
    <p:extLst>
      <p:ext uri="{BB962C8B-B14F-4D97-AF65-F5344CB8AC3E}">
        <p14:creationId xmlns:p14="http://schemas.microsoft.com/office/powerpoint/2010/main" val="1561580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876D3-AA9C-B328-609E-F464011D8D88}"/>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1FFAF171-3781-289B-85DD-F216CF99FA8D}"/>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0BB83AFE-3523-F632-1FC3-8AD857793A04}"/>
              </a:ext>
            </a:extLst>
          </p:cNvPr>
          <p:cNvSpPr txBox="1"/>
          <p:nvPr/>
        </p:nvSpPr>
        <p:spPr>
          <a:xfrm>
            <a:off x="623315" y="851879"/>
            <a:ext cx="10945368"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dirty="0">
                <a:solidFill>
                  <a:schemeClr val="tx1">
                    <a:lumMod val="95000"/>
                    <a:lumOff val="5000"/>
                  </a:schemeClr>
                </a:solidFill>
              </a:rPr>
              <a:t>Al subir una imagen que si se encuentra en la base de datos aparece el asistente con IA que ayudara a crear un propuesta visual con el envase, aquí se implementa la API de OPEN AI</a:t>
            </a:r>
            <a:endParaRPr lang="es-CO" sz="1400" noProof="0" dirty="0">
              <a:solidFill>
                <a:schemeClr val="tx1">
                  <a:lumMod val="95000"/>
                  <a:lumOff val="5000"/>
                </a:schemeClr>
              </a:solidFill>
            </a:endParaRPr>
          </a:p>
        </p:txBody>
      </p:sp>
      <p:pic>
        <p:nvPicPr>
          <p:cNvPr id="4" name="Imagen 3">
            <a:extLst>
              <a:ext uri="{FF2B5EF4-FFF2-40B4-BE49-F238E27FC236}">
                <a16:creationId xmlns:a16="http://schemas.microsoft.com/office/drawing/2014/main" id="{0A67B178-8507-E235-4261-42C5E97FDDF1}"/>
              </a:ext>
            </a:extLst>
          </p:cNvPr>
          <p:cNvPicPr>
            <a:picLocks noChangeAspect="1"/>
          </p:cNvPicPr>
          <p:nvPr/>
        </p:nvPicPr>
        <p:blipFill>
          <a:blip r:embed="rId2"/>
          <a:stretch>
            <a:fillRect/>
          </a:stretch>
        </p:blipFill>
        <p:spPr>
          <a:xfrm>
            <a:off x="1057982" y="1447170"/>
            <a:ext cx="10076033" cy="4982653"/>
          </a:xfrm>
          <a:prstGeom prst="rect">
            <a:avLst/>
          </a:prstGeom>
        </p:spPr>
      </p:pic>
    </p:spTree>
    <p:extLst>
      <p:ext uri="{BB962C8B-B14F-4D97-AF65-F5344CB8AC3E}">
        <p14:creationId xmlns:p14="http://schemas.microsoft.com/office/powerpoint/2010/main" val="207027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FAF91-81E8-128F-3840-1ABEA6AA2C7A}"/>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6994BB6D-D336-CC63-C927-A56B200BBA7D}"/>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00A80193-C3E5-C142-1741-FA5B01328E15}"/>
              </a:ext>
            </a:extLst>
          </p:cNvPr>
          <p:cNvSpPr txBox="1"/>
          <p:nvPr/>
        </p:nvSpPr>
        <p:spPr>
          <a:xfrm>
            <a:off x="623315" y="851879"/>
            <a:ext cx="10945368"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Al realizar una prueba se encuentra un error al poder realizar una propuesta grafica con el asistente de diseño, se toma este pantallazo para consultarlo directamente en visual studio code</a:t>
            </a:r>
          </a:p>
        </p:txBody>
      </p:sp>
      <p:pic>
        <p:nvPicPr>
          <p:cNvPr id="5" name="Imagen 4">
            <a:extLst>
              <a:ext uri="{FF2B5EF4-FFF2-40B4-BE49-F238E27FC236}">
                <a16:creationId xmlns:a16="http://schemas.microsoft.com/office/drawing/2014/main" id="{D6D382AB-2879-7FE7-4466-6DF6934D075E}"/>
              </a:ext>
            </a:extLst>
          </p:cNvPr>
          <p:cNvPicPr>
            <a:picLocks noChangeAspect="1"/>
          </p:cNvPicPr>
          <p:nvPr/>
        </p:nvPicPr>
        <p:blipFill>
          <a:blip r:embed="rId2"/>
          <a:stretch>
            <a:fillRect/>
          </a:stretch>
        </p:blipFill>
        <p:spPr>
          <a:xfrm>
            <a:off x="1057982" y="1476034"/>
            <a:ext cx="10076033" cy="4990035"/>
          </a:xfrm>
          <a:prstGeom prst="rect">
            <a:avLst/>
          </a:prstGeom>
        </p:spPr>
      </p:pic>
    </p:spTree>
    <p:extLst>
      <p:ext uri="{BB962C8B-B14F-4D97-AF65-F5344CB8AC3E}">
        <p14:creationId xmlns:p14="http://schemas.microsoft.com/office/powerpoint/2010/main" val="3989210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C9B-3505-9F51-37CC-358C90500560}"/>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689237C7-D4E5-F30D-73A7-F558C6EC3E72}"/>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DA9AAEA9-CFBC-511A-47E3-4A6C5EF93714}"/>
              </a:ext>
            </a:extLst>
          </p:cNvPr>
          <p:cNvSpPr txBox="1"/>
          <p:nvPr/>
        </p:nvSpPr>
        <p:spPr>
          <a:xfrm>
            <a:off x="623315" y="851879"/>
            <a:ext cx="10945368"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Se soluciona el problema con el asistente en el primer </a:t>
            </a:r>
            <a:r>
              <a:rPr lang="es-CO" sz="1400" noProof="0" dirty="0" err="1">
                <a:solidFill>
                  <a:schemeClr val="tx1">
                    <a:lumMod val="95000"/>
                    <a:lumOff val="5000"/>
                  </a:schemeClr>
                </a:solidFill>
              </a:rPr>
              <a:t>prompt</a:t>
            </a:r>
            <a:endParaRPr lang="es-CO" sz="1400" noProof="0" dirty="0">
              <a:solidFill>
                <a:schemeClr val="tx1">
                  <a:lumMod val="95000"/>
                  <a:lumOff val="5000"/>
                </a:schemeClr>
              </a:solidFill>
            </a:endParaRPr>
          </a:p>
        </p:txBody>
      </p:sp>
      <p:pic>
        <p:nvPicPr>
          <p:cNvPr id="4" name="Imagen 3">
            <a:extLst>
              <a:ext uri="{FF2B5EF4-FFF2-40B4-BE49-F238E27FC236}">
                <a16:creationId xmlns:a16="http://schemas.microsoft.com/office/drawing/2014/main" id="{8A7D2840-6CEB-974B-7AF1-F1532DA79E13}"/>
              </a:ext>
            </a:extLst>
          </p:cNvPr>
          <p:cNvPicPr>
            <a:picLocks noChangeAspect="1"/>
          </p:cNvPicPr>
          <p:nvPr/>
        </p:nvPicPr>
        <p:blipFill>
          <a:blip r:embed="rId2"/>
          <a:stretch>
            <a:fillRect/>
          </a:stretch>
        </p:blipFill>
        <p:spPr>
          <a:xfrm>
            <a:off x="1057982" y="1546688"/>
            <a:ext cx="10076033" cy="4982653"/>
          </a:xfrm>
          <a:prstGeom prst="rect">
            <a:avLst/>
          </a:prstGeom>
        </p:spPr>
      </p:pic>
    </p:spTree>
    <p:extLst>
      <p:ext uri="{BB962C8B-B14F-4D97-AF65-F5344CB8AC3E}">
        <p14:creationId xmlns:p14="http://schemas.microsoft.com/office/powerpoint/2010/main" val="2756161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27472-EDCD-51B1-0EA1-6E43E95B1374}"/>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A1208507-2F06-3FB2-E5D4-DF5F35297F2C}"/>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3A914A02-BC3D-5A88-E476-90CC69864FA3}"/>
              </a:ext>
            </a:extLst>
          </p:cNvPr>
          <p:cNvSpPr txBox="1"/>
          <p:nvPr/>
        </p:nvSpPr>
        <p:spPr>
          <a:xfrm>
            <a:off x="623315" y="851879"/>
            <a:ext cx="10945368"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Primero da unos conceptos de diseño para tener en cuenta</a:t>
            </a:r>
          </a:p>
        </p:txBody>
      </p:sp>
      <p:pic>
        <p:nvPicPr>
          <p:cNvPr id="5" name="Imagen 4">
            <a:extLst>
              <a:ext uri="{FF2B5EF4-FFF2-40B4-BE49-F238E27FC236}">
                <a16:creationId xmlns:a16="http://schemas.microsoft.com/office/drawing/2014/main" id="{AADCF53B-0689-D0F8-0E59-595C4C3F6497}"/>
              </a:ext>
            </a:extLst>
          </p:cNvPr>
          <p:cNvPicPr>
            <a:picLocks noChangeAspect="1"/>
          </p:cNvPicPr>
          <p:nvPr/>
        </p:nvPicPr>
        <p:blipFill>
          <a:blip r:embed="rId2"/>
          <a:stretch>
            <a:fillRect/>
          </a:stretch>
        </p:blipFill>
        <p:spPr>
          <a:xfrm>
            <a:off x="1057982" y="1375099"/>
            <a:ext cx="10076033" cy="4960508"/>
          </a:xfrm>
          <a:prstGeom prst="rect">
            <a:avLst/>
          </a:prstGeom>
        </p:spPr>
      </p:pic>
    </p:spTree>
    <p:extLst>
      <p:ext uri="{BB962C8B-B14F-4D97-AF65-F5344CB8AC3E}">
        <p14:creationId xmlns:p14="http://schemas.microsoft.com/office/powerpoint/2010/main" val="3605754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79C15-CA20-A59C-6DCD-BAE2196C7947}"/>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4D76979E-F144-3164-FAF4-E8B7BEB55E2C}"/>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FD9111A7-646E-6614-AA00-0E8A5ECD3694}"/>
              </a:ext>
            </a:extLst>
          </p:cNvPr>
          <p:cNvSpPr txBox="1"/>
          <p:nvPr/>
        </p:nvSpPr>
        <p:spPr>
          <a:xfrm>
            <a:off x="623315" y="851879"/>
            <a:ext cx="10945368"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Al generar una propuesta visual nos da una propuesta en el envase que se esta consultando</a:t>
            </a:r>
          </a:p>
        </p:txBody>
      </p:sp>
      <p:pic>
        <p:nvPicPr>
          <p:cNvPr id="4" name="Imagen 3">
            <a:extLst>
              <a:ext uri="{FF2B5EF4-FFF2-40B4-BE49-F238E27FC236}">
                <a16:creationId xmlns:a16="http://schemas.microsoft.com/office/drawing/2014/main" id="{20359832-2117-2C9A-1507-AF3E67902F82}"/>
              </a:ext>
            </a:extLst>
          </p:cNvPr>
          <p:cNvPicPr>
            <a:picLocks noChangeAspect="1"/>
          </p:cNvPicPr>
          <p:nvPr/>
        </p:nvPicPr>
        <p:blipFill>
          <a:blip r:embed="rId2"/>
          <a:stretch>
            <a:fillRect/>
          </a:stretch>
        </p:blipFill>
        <p:spPr>
          <a:xfrm>
            <a:off x="1057982" y="1375099"/>
            <a:ext cx="10076033" cy="5019562"/>
          </a:xfrm>
          <a:prstGeom prst="rect">
            <a:avLst/>
          </a:prstGeom>
        </p:spPr>
      </p:pic>
    </p:spTree>
    <p:extLst>
      <p:ext uri="{BB962C8B-B14F-4D97-AF65-F5344CB8AC3E}">
        <p14:creationId xmlns:p14="http://schemas.microsoft.com/office/powerpoint/2010/main" val="3969768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A355A-843F-F623-2539-B481E938D520}"/>
            </a:ext>
          </a:extLst>
        </p:cNvPr>
        <p:cNvGrpSpPr/>
        <p:nvPr/>
      </p:nvGrpSpPr>
      <p:grpSpPr>
        <a:xfrm>
          <a:off x="0" y="0"/>
          <a:ext cx="0" cy="0"/>
          <a:chOff x="0" y="0"/>
          <a:chExt cx="0" cy="0"/>
        </a:xfrm>
      </p:grpSpPr>
      <p:sp>
        <p:nvSpPr>
          <p:cNvPr id="2" name="TextBox 5">
            <a:extLst>
              <a:ext uri="{FF2B5EF4-FFF2-40B4-BE49-F238E27FC236}">
                <a16:creationId xmlns:a16="http://schemas.microsoft.com/office/drawing/2014/main" id="{480566E2-6B19-C58F-5600-78D750115CAE}"/>
              </a:ext>
            </a:extLst>
          </p:cNvPr>
          <p:cNvSpPr txBox="1"/>
          <p:nvPr/>
        </p:nvSpPr>
        <p:spPr>
          <a:xfrm>
            <a:off x="2993387" y="328659"/>
            <a:ext cx="620522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dirty="0"/>
              <a:t>Del modelo a una herramienta funcional</a:t>
            </a:r>
          </a:p>
        </p:txBody>
      </p:sp>
      <p:sp>
        <p:nvSpPr>
          <p:cNvPr id="9" name="TextBox 6">
            <a:extLst>
              <a:ext uri="{FF2B5EF4-FFF2-40B4-BE49-F238E27FC236}">
                <a16:creationId xmlns:a16="http://schemas.microsoft.com/office/drawing/2014/main" id="{D414F242-1687-78A0-FE8C-0200A02382EC}"/>
              </a:ext>
            </a:extLst>
          </p:cNvPr>
          <p:cNvSpPr txBox="1"/>
          <p:nvPr/>
        </p:nvSpPr>
        <p:spPr>
          <a:xfrm>
            <a:off x="623315" y="851879"/>
            <a:ext cx="10945368"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50">
                <a:solidFill>
                  <a:srgbClr val="5C697E"/>
                </a:solidFill>
                <a:latin typeface="Aptos"/>
              </a:defRPr>
            </a:pPr>
            <a:r>
              <a:rPr lang="es-CO" sz="1400" noProof="0" dirty="0">
                <a:solidFill>
                  <a:schemeClr val="tx1">
                    <a:lumMod val="95000"/>
                    <a:lumOff val="5000"/>
                  </a:schemeClr>
                </a:solidFill>
              </a:rPr>
              <a:t>Este es el resultado final con el asistente de diseño con IA</a:t>
            </a:r>
          </a:p>
        </p:txBody>
      </p:sp>
      <p:pic>
        <p:nvPicPr>
          <p:cNvPr id="5" name="Imagen 4">
            <a:extLst>
              <a:ext uri="{FF2B5EF4-FFF2-40B4-BE49-F238E27FC236}">
                <a16:creationId xmlns:a16="http://schemas.microsoft.com/office/drawing/2014/main" id="{06EA9C4A-51AD-533E-DB29-C2386CB5A5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9741" y="1418048"/>
            <a:ext cx="5152516" cy="5152516"/>
          </a:xfrm>
          <a:prstGeom prst="rect">
            <a:avLst/>
          </a:prstGeom>
        </p:spPr>
      </p:pic>
    </p:spTree>
    <p:extLst>
      <p:ext uri="{BB962C8B-B14F-4D97-AF65-F5344CB8AC3E}">
        <p14:creationId xmlns:p14="http://schemas.microsoft.com/office/powerpoint/2010/main" val="2642836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1C125-3FF1-5069-5AEE-9DC87F04AEB4}"/>
            </a:ext>
          </a:extLst>
        </p:cNvPr>
        <p:cNvGrpSpPr/>
        <p:nvPr/>
      </p:nvGrpSpPr>
      <p:grpSpPr>
        <a:xfrm>
          <a:off x="0" y="0"/>
          <a:ext cx="0" cy="0"/>
          <a:chOff x="0" y="0"/>
          <a:chExt cx="0" cy="0"/>
        </a:xfrm>
      </p:grpSpPr>
      <p:sp>
        <p:nvSpPr>
          <p:cNvPr id="4" name="TextBox 5">
            <a:extLst>
              <a:ext uri="{FF2B5EF4-FFF2-40B4-BE49-F238E27FC236}">
                <a16:creationId xmlns:a16="http://schemas.microsoft.com/office/drawing/2014/main" id="{F25B03FF-F54D-52F8-ACCB-BB316369C959}"/>
              </a:ext>
            </a:extLst>
          </p:cNvPr>
          <p:cNvSpPr txBox="1"/>
          <p:nvPr/>
        </p:nvSpPr>
        <p:spPr>
          <a:xfrm>
            <a:off x="701040" y="329975"/>
            <a:ext cx="2506905" cy="5232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800" b="1">
                <a:solidFill>
                  <a:srgbClr val="182234"/>
                </a:solidFill>
                <a:latin typeface="Aptos Display"/>
              </a:defRPr>
            </a:pPr>
            <a:r>
              <a:rPr lang="es-CO" noProof="0" dirty="0"/>
              <a:t>CONCLUSIONES</a:t>
            </a:r>
          </a:p>
        </p:txBody>
      </p:sp>
      <p:sp>
        <p:nvSpPr>
          <p:cNvPr id="2" name="CuadroTexto 1">
            <a:extLst>
              <a:ext uri="{FF2B5EF4-FFF2-40B4-BE49-F238E27FC236}">
                <a16:creationId xmlns:a16="http://schemas.microsoft.com/office/drawing/2014/main" id="{47D34540-D1DF-8185-E76E-768F30DCFCEE}"/>
              </a:ext>
            </a:extLst>
          </p:cNvPr>
          <p:cNvSpPr txBox="1"/>
          <p:nvPr/>
        </p:nvSpPr>
        <p:spPr>
          <a:xfrm>
            <a:off x="1079292" y="1499016"/>
            <a:ext cx="10463134" cy="4801314"/>
          </a:xfrm>
          <a:prstGeom prst="rect">
            <a:avLst/>
          </a:prstGeom>
          <a:noFill/>
        </p:spPr>
        <p:txBody>
          <a:bodyPr wrap="square" rtlCol="0">
            <a:spAutoFit/>
          </a:bodyPr>
          <a:lstStyle/>
          <a:p>
            <a:r>
              <a:rPr lang="es-CO" dirty="0"/>
              <a:t>La Base de datos de envases con IA responde a una necesidad concreta: reducir la dificultad de reconocer envases y localizar sus especificaciones dentro del proceso de innovación. El prototipo descrito ya articula clasificación visual, consulta de fichas, referencias de productos y un asistente de diseño. Las pruebas iniciales también hicieron visibles limitaciones relevantes, en particular la predicción forzada de envases desconocidos, el tamaño y balance del dataset y la confusión entre clases similares.</a:t>
            </a:r>
          </a:p>
          <a:p>
            <a:r>
              <a:rPr lang="es-CO" dirty="0"/>
              <a:t>La siguiente etapa no debería centrarse únicamente en sumar funciones. La prioridad es mejorar la calidad del catálogo, evaluar el modelo con imágenes independientes, medir falsos reconocimientos y comprobar la utilidad con usuarios reales. El umbral del 95 % puede funcionar como control preliminar, pero debe validarse empíricamente y acompañarse de mensajes claros, trazabilidad y una ruta de revisión.</a:t>
            </a:r>
          </a:p>
          <a:p>
            <a:r>
              <a:rPr lang="es-CO" dirty="0"/>
              <a:t>Finalmente, la generación de conceptos visuales puede acelerar la exploración creativa siempre que el asistente opere con restricciones explícitas y que las personas responsables mantengan el control sobre la información técnica, la marca y el arte final. Con una gestión adecuada de datos, seguridad y evaluación continua, el prototipo puede evolucionar hacia una herramienta interna de apoyo al diseño y la innovación, sin presentar como comprobados beneficios que todavía deben medirse.</a:t>
            </a:r>
          </a:p>
          <a:p>
            <a:endParaRPr lang="es-CO" dirty="0"/>
          </a:p>
        </p:txBody>
      </p:sp>
    </p:spTree>
    <p:extLst>
      <p:ext uri="{BB962C8B-B14F-4D97-AF65-F5344CB8AC3E}">
        <p14:creationId xmlns:p14="http://schemas.microsoft.com/office/powerpoint/2010/main" val="27311929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3505</TotalTime>
  <Words>1097</Words>
  <Application>Microsoft Office PowerPoint</Application>
  <PresentationFormat>Panorámica</PresentationFormat>
  <Paragraphs>55</Paragraphs>
  <Slides>25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25</vt:i4>
      </vt:variant>
    </vt:vector>
  </HeadingPairs>
  <TitlesOfParts>
    <vt:vector size="29"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Lilian Rojas</dc:creator>
  <cp:lastModifiedBy>Lilian Rojas</cp:lastModifiedBy>
  <cp:revision>10</cp:revision>
  <dcterms:created xsi:type="dcterms:W3CDTF">2026-10-06T13:14:31Z</dcterms:created>
  <dcterms:modified xsi:type="dcterms:W3CDTF">2026-10-09T02:41:33Z</dcterms:modified>
</cp:coreProperties>
</file>